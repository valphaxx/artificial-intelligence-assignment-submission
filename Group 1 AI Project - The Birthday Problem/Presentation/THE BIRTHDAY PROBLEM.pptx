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 snapToGrid="0">
      <p:cViewPr>
        <p:scale>
          <a:sx n="58" d="100"/>
          <a:sy n="58" d="100"/>
        </p:scale>
        <p:origin x="42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5FF7B-9411-BA9D-ED06-0EA0E28551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A589E6-7C07-78D1-E6E4-94295EAC55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D6DCC-95D0-3B5C-2450-32113C3BF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BB34B-D1FC-4648-818D-E57F6ACFA6A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1B624-D479-A477-B7D4-CBD3BE7CF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DBCAB-611A-90B8-C8F8-B15B912A3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57819-B923-4FCA-98A2-E0C50271D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264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DDD3E-1954-1883-54A7-86E72C059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B6F9E-9360-62A9-252A-95DBF9B48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04284-9A9E-842B-B48F-E319553E9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BB34B-D1FC-4648-818D-E57F6ACFA6A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174D3-3659-B238-FF1F-28B914F23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55416-7F40-C33C-BED0-3FDCC8ECE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57819-B923-4FCA-98A2-E0C50271D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603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2C0B0-D72F-6A6E-083E-51A6B3C37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212BC-FF34-3866-D96D-0E018B095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796E4-F7BD-2749-7209-E6AB33C51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BB34B-D1FC-4648-818D-E57F6ACFA6A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0F0D-48C3-38B7-D016-D77994732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581D5-310A-0D1A-C171-E18B8129E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57819-B923-4FCA-98A2-E0C50271D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82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D2486-B9DD-1FC3-266E-D2152993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27E77-944F-8425-CD10-D2FBF37864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510F7C-59E8-7637-F915-9637E324A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BC0BEA-EF61-C95C-73AE-2CA584443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BB34B-D1FC-4648-818D-E57F6ACFA6A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712FD5-71CF-B2E3-9CB7-1D0C1DE16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2B876-347B-1E64-B9E8-E71CCD808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57819-B923-4FCA-98A2-E0C50271D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466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16B6F-4EDB-FB2B-7B57-AC7388792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BAF86-6E02-724E-71CC-1A57F26B6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1B6CB3-C8C5-E570-E94E-84B7C2A87A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B5E373-6C1E-4BA6-BB05-36115E1DAF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49B062-06B3-65E3-5F11-D8B55A697C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B23934-F9B8-B59F-868E-2BB5B2898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BB34B-D1FC-4648-818D-E57F6ACFA6A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E3DAEC-77AE-1181-7787-77B0624F2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360196-C753-61E3-2BD5-5D4B8F740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57819-B923-4FCA-98A2-E0C50271D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9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E2305-B54A-07C7-E66E-9B2FA53A7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23930C-D9EE-8071-6771-FC0F9E9F5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BB34B-D1FC-4648-818D-E57F6ACFA6A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AF5D1-8358-116B-86C6-6ED18C230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30E88B-FB6F-342A-126A-A04A20B7E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57819-B923-4FCA-98A2-E0C50271D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085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FAB121-D768-F050-43D5-2EC721726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BB34B-D1FC-4648-818D-E57F6ACFA6A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A21D14-39E1-E65B-E21E-2EE1E74D8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33284-A5D3-72EF-8DD8-761B9EB6F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57819-B923-4FCA-98A2-E0C50271D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609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6FCA7-B9B0-87FF-9BC4-8E4DF49A2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8E161-6B56-F499-2DD5-2F9B53F3A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0DB741-DD1D-93BA-F3EF-C77F200AC1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781E16-9FFD-7FDE-12A3-755A31399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BB34B-D1FC-4648-818D-E57F6ACFA6A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4012C-4593-D6C9-FA19-FF6A49832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26270-99C8-B068-60AB-10E38F533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57819-B923-4FCA-98A2-E0C50271D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08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2A0D9-EB99-4D29-7275-7C4284E7F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071B74-188C-D41A-A282-AB1C362AE5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CEEF6A-9D22-A510-2E4F-68B320A961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F8992E-75ED-1262-51D4-02CC651A3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BB34B-D1FC-4648-818D-E57F6ACFA6A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4CFC6-F929-0167-D8CE-37C5E11C0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9067E-B252-B55A-42B4-3BE9A9BBE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57819-B923-4FCA-98A2-E0C50271D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868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C86CC-54ED-0485-A067-31BF4C986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D5A2CF-4DB4-A60F-536E-9A42C525BD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2A95F-58B8-E8B8-8F67-18A233D8C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BB34B-D1FC-4648-818D-E57F6ACFA6A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27CF6-B8C7-6B37-AE7A-8E5E83FA6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9F24C-682D-D258-819C-BF61A28A3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57819-B923-4FCA-98A2-E0C50271D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925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E349E7-0AA2-1ABA-3C13-DD48AFA7DA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3D869E-EE39-F325-90A6-417656D4CF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AA4AB-686D-49CD-BD89-4AE3E7648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BB34B-D1FC-4648-818D-E57F6ACFA6A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F9672-7D19-1929-9C09-F2044FB0E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F5E63-5720-2EFC-B999-FF4290542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57819-B923-4FCA-98A2-E0C50271D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796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A72798-119C-EB4F-E330-484780132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46669-3A67-5FED-975D-BA3D43BBC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C7ADA-CAE9-E4CA-BE3D-E7A5A86720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ABB34B-D1FC-4648-818D-E57F6ACFA6A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166C2-7F9D-2A24-FC7E-E2504E6D2E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3F28A-166D-A8A7-0BAA-3323DCE144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57819-B923-4FCA-98A2-E0C50271D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135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7CA74-CF7F-5FCD-CB15-4D67E5A222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BIRTHDAY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49CF56-03E9-9A68-CE4C-78D37E5A27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CSC 309 – PROBABILITY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993701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D7931-411E-C15E-B6E2-822BD61A6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Question:</a:t>
            </a:r>
          </a:p>
          <a:p>
            <a:pPr marL="0" indent="0">
              <a:buNone/>
            </a:pPr>
            <a:r>
              <a:rPr lang="en-US" dirty="0"/>
              <a:t>In a group of people, what is the probability that at least two people share the same birthday?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Assumptions:</a:t>
            </a:r>
          </a:p>
          <a:p>
            <a:r>
              <a:rPr lang="en-US" dirty="0"/>
              <a:t>365 days in a year</a:t>
            </a:r>
          </a:p>
          <a:p>
            <a:r>
              <a:rPr lang="en-US" dirty="0"/>
              <a:t>No leap year</a:t>
            </a:r>
          </a:p>
          <a:p>
            <a:r>
              <a:rPr lang="en-US" dirty="0"/>
              <a:t>Birthdays are equally likely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4D9E69F-484C-0A89-0117-2F521280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STATEMENT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207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11D28-29EB-F5F4-FB39-5C62E8092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IT IS SURPRISING      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D2C10C5-6388-AF7A-A090-EB3230E28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result is counter-intuitive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872F9E1-E148-4E1D-6E23-B3268391FD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169087"/>
              </p:ext>
            </p:extLst>
          </p:nvPr>
        </p:nvGraphicFramePr>
        <p:xfrm>
          <a:off x="838199" y="1690687"/>
          <a:ext cx="10515600" cy="196691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1209215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35705885"/>
                    </a:ext>
                  </a:extLst>
                </a:gridCol>
              </a:tblGrid>
              <a:tr h="655638">
                <a:tc>
                  <a:txBody>
                    <a:bodyPr/>
                    <a:lstStyle/>
                    <a:p>
                      <a:r>
                        <a:rPr lang="en-US" dirty="0"/>
                        <a:t>23 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50% CHANCE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697338"/>
                  </a:ext>
                </a:extLst>
              </a:tr>
              <a:tr h="655638">
                <a:tc>
                  <a:txBody>
                    <a:bodyPr/>
                    <a:lstStyle/>
                    <a:p>
                      <a:r>
                        <a:rPr lang="en-US" dirty="0"/>
                        <a:t>30 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70% CHANCE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678278"/>
                  </a:ext>
                </a:extLst>
              </a:tr>
              <a:tr h="655638">
                <a:tc>
                  <a:txBody>
                    <a:bodyPr/>
                    <a:lstStyle/>
                    <a:p>
                      <a:r>
                        <a:rPr lang="en-US" dirty="0"/>
                        <a:t>50 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97% CHANCE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240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2751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"/>
                            </p:stCondLst>
                            <p:childTnLst>
                              <p:par>
                                <p:cTn id="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8CD18-FE77-94B7-3238-462C079AE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IDEA(VERY IMPORTANT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801AF-2B91-7E01-F15B-FAE6201F9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Instead of calculating:</a:t>
            </a:r>
          </a:p>
          <a:p>
            <a:pPr marL="0" indent="0">
              <a:buNone/>
            </a:pPr>
            <a:r>
              <a:rPr lang="en-US" dirty="0"/>
              <a:t>Probability of at least one shared birthday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calculate:</a:t>
            </a:r>
          </a:p>
          <a:p>
            <a:pPr marL="0" indent="0">
              <a:buNone/>
            </a:pPr>
            <a:r>
              <a:rPr lang="en-US" dirty="0"/>
              <a:t>Probability that everyone has different birthdays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Then subtract from 1</a:t>
            </a:r>
          </a:p>
        </p:txBody>
      </p:sp>
    </p:spTree>
    <p:extLst>
      <p:ext uri="{BB962C8B-B14F-4D97-AF65-F5344CB8AC3E}">
        <p14:creationId xmlns:p14="http://schemas.microsoft.com/office/powerpoint/2010/main" val="1979586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B56EF-B595-E444-D66A-E00D2FABE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C8FFA-C664-D3DB-3607-C2F2894CB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Person 1:</a:t>
            </a:r>
          </a:p>
          <a:p>
            <a:pPr marL="0" indent="0">
              <a:buNone/>
            </a:pPr>
            <a:r>
              <a:rPr lang="en-US" dirty="0"/>
              <a:t>Any birthday is allowed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365 / 365</a:t>
            </a:r>
          </a:p>
        </p:txBody>
      </p:sp>
    </p:spTree>
    <p:extLst>
      <p:ext uri="{BB962C8B-B14F-4D97-AF65-F5344CB8AC3E}">
        <p14:creationId xmlns:p14="http://schemas.microsoft.com/office/powerpoint/2010/main" val="2514482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62FEF-39C0-5B97-BBE7-74ADE131E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53572-239C-32A1-DAEA-05BA87B9D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1624AC-0738-5CFE-05F7-8607E36D987E}"/>
              </a:ext>
            </a:extLst>
          </p:cNvPr>
          <p:cNvSpPr txBox="1"/>
          <p:nvPr/>
        </p:nvSpPr>
        <p:spPr>
          <a:xfrm>
            <a:off x="959385" y="1825625"/>
            <a:ext cx="33868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Person 2:</a:t>
            </a:r>
          </a:p>
          <a:p>
            <a:r>
              <a:rPr lang="en-US" sz="2000" dirty="0"/>
              <a:t>Must avoid person 1’s birthday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CB2BF0-4B89-C543-F19B-79813C4227CB}"/>
              </a:ext>
            </a:extLst>
          </p:cNvPr>
          <p:cNvSpPr txBox="1"/>
          <p:nvPr/>
        </p:nvSpPr>
        <p:spPr>
          <a:xfrm>
            <a:off x="1983035" y="2668448"/>
            <a:ext cx="1938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364/365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A7D7EE9-207A-A2D5-0EBA-D2C2643DC124}"/>
              </a:ext>
            </a:extLst>
          </p:cNvPr>
          <p:cNvSpPr/>
          <p:nvPr/>
        </p:nvSpPr>
        <p:spPr>
          <a:xfrm>
            <a:off x="2467778" y="3591499"/>
            <a:ext cx="683046" cy="451691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734D4B9-1F60-814C-D70E-3843C0C669CC}"/>
              </a:ext>
            </a:extLst>
          </p:cNvPr>
          <p:cNvSpPr/>
          <p:nvPr/>
        </p:nvSpPr>
        <p:spPr>
          <a:xfrm>
            <a:off x="3358308" y="3599763"/>
            <a:ext cx="683046" cy="451691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0CD0983-6A6B-9B1B-EF02-AA6D0E30AE0B}"/>
              </a:ext>
            </a:extLst>
          </p:cNvPr>
          <p:cNvSpPr/>
          <p:nvPr/>
        </p:nvSpPr>
        <p:spPr>
          <a:xfrm>
            <a:off x="4241493" y="3591498"/>
            <a:ext cx="683046" cy="45169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427BD08-6EF3-55C2-6734-B2A74CEC05A8}"/>
              </a:ext>
            </a:extLst>
          </p:cNvPr>
          <p:cNvSpPr/>
          <p:nvPr/>
        </p:nvSpPr>
        <p:spPr>
          <a:xfrm>
            <a:off x="5119169" y="3591497"/>
            <a:ext cx="683046" cy="451691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1AC4FF4-4567-9CE1-EED1-CAE5B03A61BD}"/>
              </a:ext>
            </a:extLst>
          </p:cNvPr>
          <p:cNvSpPr/>
          <p:nvPr/>
        </p:nvSpPr>
        <p:spPr>
          <a:xfrm>
            <a:off x="6124001" y="3591496"/>
            <a:ext cx="683046" cy="451691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D1DD259-4F64-1226-9E90-1CD98F6ECFAD}"/>
              </a:ext>
            </a:extLst>
          </p:cNvPr>
          <p:cNvSpPr/>
          <p:nvPr/>
        </p:nvSpPr>
        <p:spPr>
          <a:xfrm>
            <a:off x="1468457" y="3591494"/>
            <a:ext cx="683046" cy="451691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8274512-E180-9893-8712-0048346E6EE1}"/>
              </a:ext>
            </a:extLst>
          </p:cNvPr>
          <p:cNvSpPr/>
          <p:nvPr/>
        </p:nvSpPr>
        <p:spPr>
          <a:xfrm>
            <a:off x="7090270" y="3599763"/>
            <a:ext cx="683046" cy="451691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8416CC6-FAEE-5825-6179-042268C5205E}"/>
              </a:ext>
            </a:extLst>
          </p:cNvPr>
          <p:cNvSpPr/>
          <p:nvPr/>
        </p:nvSpPr>
        <p:spPr>
          <a:xfrm>
            <a:off x="8006509" y="3591495"/>
            <a:ext cx="683046" cy="451691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0415AE-43D6-5575-0019-D33778A7CA84}"/>
              </a:ext>
            </a:extLst>
          </p:cNvPr>
          <p:cNvSpPr/>
          <p:nvPr/>
        </p:nvSpPr>
        <p:spPr>
          <a:xfrm>
            <a:off x="1468457" y="4371053"/>
            <a:ext cx="683046" cy="451691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D301044-AE1F-D9CE-6913-B74E53E9D09B}"/>
              </a:ext>
            </a:extLst>
          </p:cNvPr>
          <p:cNvSpPr/>
          <p:nvPr/>
        </p:nvSpPr>
        <p:spPr>
          <a:xfrm>
            <a:off x="2467778" y="4432540"/>
            <a:ext cx="683046" cy="451691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0F0D72A-F1B7-551D-4667-36A239CA24C5}"/>
              </a:ext>
            </a:extLst>
          </p:cNvPr>
          <p:cNvSpPr/>
          <p:nvPr/>
        </p:nvSpPr>
        <p:spPr>
          <a:xfrm>
            <a:off x="3358308" y="4432540"/>
            <a:ext cx="683046" cy="451691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1F470E1-2ED2-948D-CFFF-D5B0834C8F88}"/>
              </a:ext>
            </a:extLst>
          </p:cNvPr>
          <p:cNvSpPr/>
          <p:nvPr/>
        </p:nvSpPr>
        <p:spPr>
          <a:xfrm>
            <a:off x="4241493" y="4432539"/>
            <a:ext cx="683046" cy="451691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751A947-7F9D-9815-031B-FE8F3B1F333E}"/>
              </a:ext>
            </a:extLst>
          </p:cNvPr>
          <p:cNvSpPr/>
          <p:nvPr/>
        </p:nvSpPr>
        <p:spPr>
          <a:xfrm>
            <a:off x="5119169" y="4371053"/>
            <a:ext cx="683046" cy="451691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2F47215-6456-1EE1-213C-2632067C8C8F}"/>
              </a:ext>
            </a:extLst>
          </p:cNvPr>
          <p:cNvSpPr/>
          <p:nvPr/>
        </p:nvSpPr>
        <p:spPr>
          <a:xfrm>
            <a:off x="6124001" y="4371052"/>
            <a:ext cx="683046" cy="451691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BE3BC9A-6F6C-908B-5492-E6A50C542713}"/>
              </a:ext>
            </a:extLst>
          </p:cNvPr>
          <p:cNvSpPr/>
          <p:nvPr/>
        </p:nvSpPr>
        <p:spPr>
          <a:xfrm>
            <a:off x="7090270" y="4371047"/>
            <a:ext cx="683046" cy="451691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1E4331F-249E-DB06-12A7-571F77B146BC}"/>
              </a:ext>
            </a:extLst>
          </p:cNvPr>
          <p:cNvSpPr/>
          <p:nvPr/>
        </p:nvSpPr>
        <p:spPr>
          <a:xfrm>
            <a:off x="8006509" y="4371046"/>
            <a:ext cx="683046" cy="451691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231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D7B51-F406-EC03-07EE-E4C30F5BD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C5730-18DC-75B3-5001-E535C2F2C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D64D8-80D1-52AD-68DE-846435632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FB412D-A528-A135-312F-C596AEB39A00}"/>
              </a:ext>
            </a:extLst>
          </p:cNvPr>
          <p:cNvSpPr txBox="1"/>
          <p:nvPr/>
        </p:nvSpPr>
        <p:spPr>
          <a:xfrm>
            <a:off x="959385" y="1825625"/>
            <a:ext cx="36077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Person 3:</a:t>
            </a:r>
          </a:p>
          <a:p>
            <a:r>
              <a:rPr lang="en-US" sz="2000" dirty="0"/>
              <a:t>Must avoid person two birthdays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4D2934-67C7-DF43-20D3-492151CA84AC}"/>
              </a:ext>
            </a:extLst>
          </p:cNvPr>
          <p:cNvSpPr txBox="1"/>
          <p:nvPr/>
        </p:nvSpPr>
        <p:spPr>
          <a:xfrm>
            <a:off x="1983035" y="2668448"/>
            <a:ext cx="1938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363/365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2F48320-2795-7B12-4800-9FE968B5D5A4}"/>
              </a:ext>
            </a:extLst>
          </p:cNvPr>
          <p:cNvSpPr/>
          <p:nvPr/>
        </p:nvSpPr>
        <p:spPr>
          <a:xfrm>
            <a:off x="2467778" y="3591499"/>
            <a:ext cx="683046" cy="451691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CC87798-53B6-967E-4948-C56739BBF396}"/>
              </a:ext>
            </a:extLst>
          </p:cNvPr>
          <p:cNvSpPr/>
          <p:nvPr/>
        </p:nvSpPr>
        <p:spPr>
          <a:xfrm>
            <a:off x="3358308" y="3599763"/>
            <a:ext cx="683046" cy="451691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35F2E7F-04DC-E062-6B43-210065D90E19}"/>
              </a:ext>
            </a:extLst>
          </p:cNvPr>
          <p:cNvSpPr/>
          <p:nvPr/>
        </p:nvSpPr>
        <p:spPr>
          <a:xfrm>
            <a:off x="4241493" y="3591498"/>
            <a:ext cx="683046" cy="45169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212A750-5931-78F1-D978-CC39D5408E27}"/>
              </a:ext>
            </a:extLst>
          </p:cNvPr>
          <p:cNvSpPr/>
          <p:nvPr/>
        </p:nvSpPr>
        <p:spPr>
          <a:xfrm>
            <a:off x="5119169" y="3591497"/>
            <a:ext cx="683046" cy="45169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F8AB985-05AD-E86E-62CC-E58EB7403FA6}"/>
              </a:ext>
            </a:extLst>
          </p:cNvPr>
          <p:cNvSpPr/>
          <p:nvPr/>
        </p:nvSpPr>
        <p:spPr>
          <a:xfrm>
            <a:off x="6124001" y="3591496"/>
            <a:ext cx="683046" cy="451691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4302269-34EC-A85A-2981-DEB08800076B}"/>
              </a:ext>
            </a:extLst>
          </p:cNvPr>
          <p:cNvSpPr/>
          <p:nvPr/>
        </p:nvSpPr>
        <p:spPr>
          <a:xfrm>
            <a:off x="1468457" y="3591494"/>
            <a:ext cx="683046" cy="451691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13F885B-5CEC-EB88-02B6-7503F54B29B3}"/>
              </a:ext>
            </a:extLst>
          </p:cNvPr>
          <p:cNvSpPr/>
          <p:nvPr/>
        </p:nvSpPr>
        <p:spPr>
          <a:xfrm>
            <a:off x="7090270" y="3599763"/>
            <a:ext cx="683046" cy="451691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AEBDED9-AD50-E1B9-C437-3C77AC96008D}"/>
              </a:ext>
            </a:extLst>
          </p:cNvPr>
          <p:cNvSpPr/>
          <p:nvPr/>
        </p:nvSpPr>
        <p:spPr>
          <a:xfrm>
            <a:off x="8006509" y="3591495"/>
            <a:ext cx="683046" cy="451691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CF4FEE0-2629-A6CE-8353-2BD7D6D3406D}"/>
              </a:ext>
            </a:extLst>
          </p:cNvPr>
          <p:cNvSpPr/>
          <p:nvPr/>
        </p:nvSpPr>
        <p:spPr>
          <a:xfrm>
            <a:off x="1468457" y="4371053"/>
            <a:ext cx="683046" cy="451691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B5F8850-097C-9D03-12C2-C073D964BC65}"/>
              </a:ext>
            </a:extLst>
          </p:cNvPr>
          <p:cNvSpPr/>
          <p:nvPr/>
        </p:nvSpPr>
        <p:spPr>
          <a:xfrm>
            <a:off x="2467778" y="4432540"/>
            <a:ext cx="683046" cy="451691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4A5E1A4-33C0-8273-7EDD-2624F9547FF2}"/>
              </a:ext>
            </a:extLst>
          </p:cNvPr>
          <p:cNvSpPr/>
          <p:nvPr/>
        </p:nvSpPr>
        <p:spPr>
          <a:xfrm>
            <a:off x="3358308" y="4432540"/>
            <a:ext cx="683046" cy="451691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1913C92-2EA9-EC8F-1C60-55C33CE27253}"/>
              </a:ext>
            </a:extLst>
          </p:cNvPr>
          <p:cNvSpPr/>
          <p:nvPr/>
        </p:nvSpPr>
        <p:spPr>
          <a:xfrm>
            <a:off x="4241493" y="4432539"/>
            <a:ext cx="683046" cy="451691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CC1D8FE-1158-D669-44DD-16F8DD33E57B}"/>
              </a:ext>
            </a:extLst>
          </p:cNvPr>
          <p:cNvSpPr/>
          <p:nvPr/>
        </p:nvSpPr>
        <p:spPr>
          <a:xfrm>
            <a:off x="5119169" y="4371053"/>
            <a:ext cx="683046" cy="451691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851D171-088A-C4D4-EB73-0206383014BB}"/>
              </a:ext>
            </a:extLst>
          </p:cNvPr>
          <p:cNvSpPr/>
          <p:nvPr/>
        </p:nvSpPr>
        <p:spPr>
          <a:xfrm>
            <a:off x="6124001" y="4371052"/>
            <a:ext cx="683046" cy="451691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71BAAD4-9732-4FF5-2A20-CABA8E99F437}"/>
              </a:ext>
            </a:extLst>
          </p:cNvPr>
          <p:cNvSpPr/>
          <p:nvPr/>
        </p:nvSpPr>
        <p:spPr>
          <a:xfrm>
            <a:off x="7090270" y="4371047"/>
            <a:ext cx="683046" cy="451691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6CB7402-CB00-79C1-6834-B238BA86F6D6}"/>
              </a:ext>
            </a:extLst>
          </p:cNvPr>
          <p:cNvSpPr/>
          <p:nvPr/>
        </p:nvSpPr>
        <p:spPr>
          <a:xfrm>
            <a:off x="8006509" y="4371046"/>
            <a:ext cx="683046" cy="451691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338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"/>
                            </p:stCondLst>
                            <p:childTnLst>
                              <p:par>
                                <p:cTn id="11" presetID="1" presetClass="exit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7E61E-B655-1433-310D-88AB29A4F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0D5E3-3023-960E-B326-A321BBE4C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P(All different birthdays) = </a:t>
            </a:r>
          </a:p>
          <a:p>
            <a:pPr marL="0" indent="0">
              <a:buNone/>
            </a:pPr>
            <a:r>
              <a:rPr lang="en-US" dirty="0"/>
              <a:t>365/365 x 364/365 x 363/365 x … x (365 – (n – 1)) /365     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267659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B45C4-4A1E-8762-38B1-EE4BBF67A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INTRODUCE COMPLEMENT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5C462-0F3B-00A7-561B-4D2C108CB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         Probability of at least one shared birthday =</a:t>
            </a:r>
          </a:p>
          <a:p>
            <a:pPr marL="0" indent="0">
              <a:buNone/>
            </a:pPr>
            <a:r>
              <a:rPr lang="en-US" dirty="0"/>
              <a:t>      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E91C0D-6839-D4FD-050E-7A4A367FFAE0}"/>
              </a:ext>
            </a:extLst>
          </p:cNvPr>
          <p:cNvSpPr txBox="1"/>
          <p:nvPr/>
        </p:nvSpPr>
        <p:spPr>
          <a:xfrm>
            <a:off x="1806766" y="2401677"/>
            <a:ext cx="440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C8E54-5A96-F62E-4344-6B98BEF0E4C3}"/>
              </a:ext>
            </a:extLst>
          </p:cNvPr>
          <p:cNvSpPr txBox="1"/>
          <p:nvPr/>
        </p:nvSpPr>
        <p:spPr>
          <a:xfrm>
            <a:off x="2170323" y="2401677"/>
            <a:ext cx="53306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Probability that all birthdays are different</a:t>
            </a:r>
          </a:p>
        </p:txBody>
      </p:sp>
    </p:spTree>
    <p:extLst>
      <p:ext uri="{BB962C8B-B14F-4D97-AF65-F5344CB8AC3E}">
        <p14:creationId xmlns:p14="http://schemas.microsoft.com/office/powerpoint/2010/main" val="9084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CC441-37C9-6BC3-8021-6D14174C4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MAGIC NUMBER(23)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93E85-6F2E-1592-0FB4-E75F9F540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F3DE07-44E5-EBF3-5C44-0C437059DD7E}"/>
              </a:ext>
            </a:extLst>
          </p:cNvPr>
          <p:cNvSpPr txBox="1"/>
          <p:nvPr/>
        </p:nvSpPr>
        <p:spPr>
          <a:xfrm>
            <a:off x="1145754" y="1825625"/>
            <a:ext cx="29915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For n = 23</a:t>
            </a:r>
          </a:p>
          <a:p>
            <a:r>
              <a:rPr lang="en-US" sz="2400" dirty="0"/>
              <a:t>P(All different) = 0.492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D9AB36-C5D8-2F0E-B349-028BB4DB851B}"/>
              </a:ext>
            </a:extLst>
          </p:cNvPr>
          <p:cNvSpPr txBox="1"/>
          <p:nvPr/>
        </p:nvSpPr>
        <p:spPr>
          <a:xfrm>
            <a:off x="1145754" y="2922224"/>
            <a:ext cx="30809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P(At least one match) =</a:t>
            </a:r>
          </a:p>
          <a:p>
            <a:r>
              <a:rPr lang="en-US" sz="2400" dirty="0"/>
              <a:t>1 – 0.492 = 0.508</a:t>
            </a:r>
          </a:p>
        </p:txBody>
      </p:sp>
    </p:spTree>
    <p:extLst>
      <p:ext uri="{BB962C8B-B14F-4D97-AF65-F5344CB8AC3E}">
        <p14:creationId xmlns:p14="http://schemas.microsoft.com/office/powerpoint/2010/main" val="4202667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6B2A0-D75F-F4B2-71FA-61607054F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IT MATTERS (CSC ANGLE)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61AE0-AF87-58F9-B91A-DA49744F8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Application:</a:t>
            </a:r>
          </a:p>
          <a:p>
            <a:r>
              <a:rPr lang="en-US" dirty="0"/>
              <a:t>Hash collisions</a:t>
            </a:r>
          </a:p>
          <a:p>
            <a:r>
              <a:rPr lang="en-US" dirty="0"/>
              <a:t>Cryptography</a:t>
            </a:r>
          </a:p>
          <a:p>
            <a:r>
              <a:rPr lang="en-US" dirty="0"/>
              <a:t>Randomized algorithms</a:t>
            </a:r>
          </a:p>
          <a:p>
            <a:r>
              <a:rPr lang="en-US" dirty="0"/>
              <a:t>Network security</a:t>
            </a:r>
          </a:p>
        </p:txBody>
      </p:sp>
    </p:spTree>
    <p:extLst>
      <p:ext uri="{BB962C8B-B14F-4D97-AF65-F5344CB8AC3E}">
        <p14:creationId xmlns:p14="http://schemas.microsoft.com/office/powerpoint/2010/main" val="2457061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59120-E5EF-2049-D20A-2450747AB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40688-337B-CC3C-F0B9-64FF1073A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Conclusion:</a:t>
            </a:r>
          </a:p>
          <a:p>
            <a:r>
              <a:rPr lang="en-US" dirty="0"/>
              <a:t>Only 23 people give a 50% chance</a:t>
            </a:r>
          </a:p>
          <a:p>
            <a:r>
              <a:rPr lang="en-US" dirty="0"/>
              <a:t>The result is counter-intuitive</a:t>
            </a:r>
          </a:p>
          <a:p>
            <a:r>
              <a:rPr lang="en-US" dirty="0"/>
              <a:t>The complement rule makes it simple</a:t>
            </a:r>
          </a:p>
        </p:txBody>
      </p:sp>
    </p:spTree>
    <p:extLst>
      <p:ext uri="{BB962C8B-B14F-4D97-AF65-F5344CB8AC3E}">
        <p14:creationId xmlns:p14="http://schemas.microsoft.com/office/powerpoint/2010/main" val="1753138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251</Words>
  <Application>Microsoft Office PowerPoint</Application>
  <PresentationFormat>Widescreen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THE BIRTHDAY PROBLEM</vt:lpstr>
      <vt:lpstr>PROBLEM STATEMENT </vt:lpstr>
      <vt:lpstr>WHY IT IS SURPRISING       </vt:lpstr>
      <vt:lpstr>KEY IDEA(VERY IMPORTANT</vt:lpstr>
      <vt:lpstr>PERSON 1</vt:lpstr>
      <vt:lpstr>PERSON 2</vt:lpstr>
      <vt:lpstr>PERSON 3</vt:lpstr>
      <vt:lpstr>GENERAL FORMULA</vt:lpstr>
      <vt:lpstr>INTRODUCE COMPLEMENT</vt:lpstr>
      <vt:lpstr>THE MAGIC NUMBER(23)</vt:lpstr>
      <vt:lpstr>WHY IT MATTERS (CSC ANGLE)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lotana metu</dc:creator>
  <cp:lastModifiedBy>lotana metu</cp:lastModifiedBy>
  <cp:revision>1</cp:revision>
  <dcterms:created xsi:type="dcterms:W3CDTF">2026-01-14T20:52:45Z</dcterms:created>
  <dcterms:modified xsi:type="dcterms:W3CDTF">2026-01-14T21:24:35Z</dcterms:modified>
</cp:coreProperties>
</file>